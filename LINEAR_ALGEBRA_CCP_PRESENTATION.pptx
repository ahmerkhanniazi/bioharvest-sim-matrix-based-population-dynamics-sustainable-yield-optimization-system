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COMPLEX COMPUTING PROJECT (CCP) PRESENTATION</a:t>
            </a:r>
          </a:p>
          <a:p>
            <a:pPr algn="ctr">
              <a:spcBef>
                <a:spcPts val="1000"/>
              </a:spcBef>
              <a:defRPr sz="2600" b="1">
                <a:solidFill>
                  <a:srgbClr val="F8FAFC"/>
                </a:solidFill>
              </a:defRPr>
            </a:pPr>
            <a:r>
              <a:t>BioHarvest-Sim: Matrix-Based Population Dynamics &amp; Sustainable Yield Optimization</a:t>
            </a:r>
          </a:p>
          <a:p>
            <a:pPr algn="ctr">
              <a:spcBef>
                <a:spcPts val="800"/>
              </a:spcBef>
              <a:defRPr sz="1300">
                <a:solidFill>
                  <a:srgbClr val="38BDF8"/>
                </a:solidFill>
              </a:defRPr>
            </a:pPr>
            <a:r>
              <a:t>A Discrete-Time Linear Algebraic Framework Using Leslie Matrices, Perron-Frobenius Spectral Decomposition &amp; HiGHS Linear Programming</a:t>
            </a:r>
          </a:p>
          <a:p>
            <a:pPr algn="ctr"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????????????????????????????????????????????????????????????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Course: CB / MTE-213 ? Advanced Linear Algebra &amp; Complex Computing</a:t>
            </a:r>
            <a:br/>
            <a:r>
              <a:t>Department: Department of Cyber Security &amp; Mathematics</a:t>
            </a:r>
            <a:br/>
            <a:r>
              <a:t>Course Instructor &amp; Evaluator: Sir Muhammad Kashif</a:t>
            </a:r>
            <a:br/>
            <a:r>
              <a:t>Presenters: Speaker 1 (Lead Presenter) &amp; Speaker 2 (Co-Presenter)  | 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  |  INTRODUCTION &amp; MOTIVATION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The Ecological Problem &amp; The Failure of Classical Scalar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7185"/>
                </a:solidFill>
              </a:defRPr>
            </a:pPr>
            <a:r>
              <a:t>1. Classical Models Fail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Scalar growth models N(t) = N0 e^(rt) treat all individuals identically.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Ignore that newborns cannot reproduce and elders experience senescent decline.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Assume uniform survival across life history, distorting real-world forecasts.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Result: Catastrophic policy failures in wildlife and fishery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2. The Harvesting Dilemma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Over-Harvesting: Killing prime breeding females collapses future reproductive capacity.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Under-Harvesting: Leaves commercial resources unexploited, causing economic loss.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Historical Evidence: North Atlantic cod and Blue Whale populations suffered near-extinction due to lack of age-specific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3. The BioHarvest-Sim Solution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Segments populations into n discrete age cohorts (x_i).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Applies non-negative Leslie Transition Matrices 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Computes asymptotic demographic stability via Perron-Frobenius spectral analysis.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Solves Maximum Sustainable Yield (MSY) via constrained Linear Programming.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3  |  MATHEMATICAL THEORY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Core Linear Algebra Foundations: Leslie Matrices &amp; Spectral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1. Discrete-Time System &amp; Leslie Matrix (L)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System Equation: x(k+1) = L ? x(k)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Row 1: Fecundities f_i &gt;= 0 (Annual births per female)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Subdiagonal: Survival s_i in (0, 1] (Cohort transition probability)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All other entries are 0 (Sparse, non-negative matrix L &gt;= 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2. Perron-Frobenius Theorem (Eigendecomposition)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Dominant Eigenvalue: lambda_1 = rho(L) &gt; 0 is strictly real &amp; positive.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Growth Criterion: lambda_1 &gt; 1 (expanding), lambda_1 = 1 (stationary), lambda_1 &lt; 1 (extinction).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Intrinsic Growth Rate: r = ln(lambda_1).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Subdominant eigenvalues govern transient demographic waves.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3. Right &amp; Left Eigenvectors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Right Eigenvector: L ? v_1 = lambda_1 ? v_1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Stable Age Distribution (w_1 = v_1 / sum v_i): Long-term stable proportions of age classes.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Left Eigenvector: u_1^T ? L = lambda_1 ? u_1^T (Fisher's Reproductive Value, normalized u_1 = 1.0).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4. Spectral Diagonalization Acceleration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Diagonalization: L = P ? D ? P^(-1) where D = diag(lambda_1, ..., lambda_n)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Fast k-Step Trajectory: L^k ? x(0) = P ? D^k ? P^(-1) ? x(0)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Complexity drops from O(k ? n^2) to O(n), accelerating 100-year projections into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4  |  MANUAL CALCULATIONS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Step-by-Step Numerical Hand Calculation Example (n =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Step 1 &amp; 2: Matrix Setup &amp; Characteristic Equation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Given: f_1 = 1.0, f_2 = 4.0, s_1 = 0.50, Initial x(0) = [100, 20]^T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Leslie Matrix: L = [ [1.0, 4.0], [0.5, 0.0] ]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det(lambda ? I - L) = (lambda - 1)(lambda) - (-4)(-0.5) = lambda^2 - lambda - 2 = 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Roots: (lambda - 2)(lambda + 1) = 0  ===&gt;  lambda_1 = 2.0, lambda_2 = -1.0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Dominant eigenvalue lambda_1 = 2.0  (Population doubles each step!)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Step 3: Right Eigenvector &amp; Stable Age Distribution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Solve (L - 2I) v_1 = 0  ===&gt;  [ [-1, 4], [0.5, -2] ] [v_1, v_2]^T = 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-v_1 + 4 v_2 = 0  ===&gt;  v_1 = 4 v_2. Let v_2 = 1  ===&gt;  v_1 = [4, 1]^T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Normalize: sum = 4 + 1 = 5  ===&gt;  w_1 = [ 4/5, 1/5 ]^T = [ 0.80, 0.20 ]^T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Meaning: Asymptotically, 80% are Yearlings and 20% are Mature Adults!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Step 4: Left Eigenvector (Reproductive Value)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Solve u_1^T (L - 2I) = 0  ===&gt;  -u_1 + 0.5 u_2 = 0  ===&gt;  u_2 = 2 u_1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Set u_1 = 1.0 (Newborn benchmark)  ===&gt;  u_2 = 2.0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Result: u_1 = [ 1.0, 2.0 ]^T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Meaning: Adults have TWICE the reproductive contribution of Yearlings!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Step 5: Sustainable Harvest Fraction (h*)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Formula: h* = 1 - 1 / lambda_1 = 1 - 1 / 2.0 = 0.50  (50.0% annual harvest)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Harvested Matrix: L_tilde = (1 - h*) L = [ [0.5, 2.0], [0.25, 0.0] ]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det(lambda I - L_tilde) = lambda^2 - 0.5 lambda - 0.5 = (lambda - 1)(lambda + 0.5) = 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Effective lambda_1_tilde = 1.000  (Stationary equilibrium verified!)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5  |  COMPUTING &amp; IMPLEMENTATION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Software Architecture, HiGHS Optimization &amp; Monte Carlo PVA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1. Technology Stack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Language: Python 3.11+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NumPy: C-optimized vector &amp; matrix primitives.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SciPy: LAPACK eigensolvers &amp; HiGHS Linear Programming engine.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Streamlit &amp; Plotly: Interactive dark-mode web workbench &amp; 3D WebGL manifolds.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Matplotlib (Agg): Headless PDF reporting (PdfPages).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2. MSY Linear Program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Maximize: Z = c^T ? h* (Economic revenue)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Subject to Linear Constraints: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? Equilibrium: (L - I) x* - h* = 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? Juvenile Limits: h_i* &lt;= alpha_i x_i*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? Carrying Capacity: sum(x_i*) &lt;= 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? Physical Non-negativity: x* &gt;= 0, h* &gt;= 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Solved via scipy.optimize.linprog(method='highs').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2926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3. Monte Carlo PVA &amp; Tests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500 Independent Stochastic Runs over 50-year projection horizon.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Environmental noise: Fecundities ~ Lognormal, Survivals ~ Truncated Normal.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Catastrophe Shocks: 2-4% annual disaster risk (30-40% mortality).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Testing: 17/17 Unit Tests passed (100% pass rate in 1.64s). Compliant with ISO 12207 &amp; 27001.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6  |  RESULTS &amp; CASE STUDIES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Empirical Validation Across Diverse Ecological Life Histories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Fin Whale (Marine)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 = 12 age classes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lambda_1 = 1.04924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Growth r = +0.0481 yr^(-1)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Net Repr. R_0 = 1.507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Gen. Time T_c = 8.54 yrs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Uniform h* = 4.69%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MSY Yield = 190 whales/yr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Extinction Risk = 8.5%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Insight: Sparing calves 1-8 maximizes long-term yield.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64592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783080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Pacific Salmon (Fish)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 = 4 age classes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lambda_1 = 1.08853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Growth r = +0.0848 yr^(-1)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Net Repr. R_0 = 1.404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Gen. Time T_c = 4.00 yrs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Uniform h* = 8.13%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MSY Yield = 33.6 salmon/yr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Extinction Risk = 3.5%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Insight: Cyclic imprimitive matrix (gcd=4) causes boom-bust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White-Tailed Deer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 = 6 age classes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lambda_1 = 1.39670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Growth r = +0.3341 yr^(-1)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Net Repr. R_0 = 2.989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Gen. Time T_c = 3.28 yrs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Uniform h* = 28.40%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MSY Yield = 1,901 deer/yr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Extinction Risk = 0.5%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Insight: High twinning and damping ratio (rho=1.84) gives extreme resilience.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4592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783080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7185"/>
                </a:solidFill>
              </a:defRPr>
            </a:pPr>
            <a:r>
              <a:t>Grizzly Bear (Apex)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 = 8 age classes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lambda_1 = 0.93447 (&lt; 1.0!)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Growth r = -0.0678 (Negative!)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Net Repr. R_0 = 0.663 (&lt; 1.0!)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Gen. Time T_c = 6.07 yrs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Uniform h* = 0.00%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MSY Yield = 0.00 bears/yr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Extinction Risk = 100.0%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Insight: HiGHS correctly allocated 0 harvest; strictly protected!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7  |  REAL-WORLD IMPACT &amp; DISCUSSION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Practical Applications, Engineering Challenges &amp; Critical Reflections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1. Real-World Applications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Marine Fisheries: Legal MSY catch quotas enforced by NOAA and EU Common Fisheries Policy.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Endangered Species Recovery: IUCN &amp; WWF prioritize conservation via Caswell Elasticity gradients.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Wildlife Game Management: Setting tag limits for ungulates to prevent forest degradation.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Invasive Species Control: Modeling sterile-insect release to force lambda_1 &lt; 1.0 (pest eradication).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2. What Did We Learn?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Abstract Linear Algebra directly dictates global conservation and commercial policy.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Eigendecomposition eliminates brute-force forward simulation to find long-term stability.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Spectral decomposition diagonalizes complex multi-dimensional systems into independent scalar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3. Difficulties &amp; Engineering Mitigations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Ill-Conditioned Modal Matrices: Monitored condition number kappa(P); implemented automatic fallback when kappa(P) &gt; 10^12.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Cyclic Imprimitive Roots: Filtered candidate eigenvalues to reliably select the real Perron-Frobenius root in salmon.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Stochastic Bounds: Applied elementwise non-negativity clipping max(x, 0) to prevent biological violations.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7185"/>
                </a:solidFill>
              </a:defRPr>
            </a:pPr>
            <a:r>
              <a:t>4. Advantages &amp; Limitations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Advantages: Exact analytical solutions, globally optimal harvest quotas via HiGHS, O(n) execution speed.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Limitations: Assumes linear density-independent transition rates. Future roadmap: integrate non-linear Beverton-Holt carrying capacity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8  |  CONCLUSION &amp; WRAP-UP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Project Summary, Engineering Deliverables &amp; Open Floor for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Project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1. Complete Mathematical Framework: Synthesized Leslie Matrices, Perron-Frobenius theorem, and Spectral Decomposition.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2. Automated Optimization Engine: Successfully implemented HiGHS Simplex LP to maximize sustainable biomass yield under conservation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3. Robust Stochastic Analysis: 500-run Monte Carlo PVA accurately quantified 50-year extinction risks across 4 distinct species.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4. Production Software Architecture: Streamlit reactive dashboard, Plotly 3D WebGL manifolds, 17 automated unit tests (100% pass rate).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?  5. Standards Compliance: Formally engineered under ISO/IEC/IEEE 12207 and ISO/IEC 27001 data integrity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Special thanks to our course instructor:</a:t>
            </a:r>
            <a:br/>
            <a:r>
              <a:t>Sir Muhammad Kashif</a:t>
            </a:r>
            <a:br/>
            <a:r>
              <a:t>for his invaluable guidance and mentorship in Advanced Linear Algebra.</a:t>
            </a:r>
          </a:p>
          <a:p>
            <a:pPr algn="ctr">
              <a:spcBef>
                <a:spcPts val="1400"/>
              </a:spcBef>
              <a:defRPr sz="1100">
                <a:solidFill>
                  <a:srgbClr val="334155"/>
                </a:solidFill>
              </a:defRPr>
            </a:pPr>
            <a:r>
              <a:t>????????????????????????????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FBBF24"/>
                </a:solidFill>
              </a:defRPr>
            </a:pPr>
            <a:r>
              <a:t>Q &amp; A SESSION</a:t>
            </a:r>
          </a:p>
          <a:p>
            <a:pPr algn="ctr">
              <a:spcBef>
                <a:spcPts val="800"/>
              </a:spcBef>
              <a:defRPr sz="1200" i="1">
                <a:solidFill>
                  <a:srgbClr val="94A3B8"/>
                </a:solidFill>
              </a:defRPr>
            </a:pPr>
            <a:r>
              <a:t>We welcome any questions from the respected evaluator.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